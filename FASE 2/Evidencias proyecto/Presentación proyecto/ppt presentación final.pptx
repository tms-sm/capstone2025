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layfair Display" charset="1" panose="00000500000000000000"/>
      <p:regular r:id="rId15"/>
    </p:embeddedFont>
    <p:embeddedFont>
      <p:font typeface="Public Sans Bold" charset="1" panose="00000000000000000000"/>
      <p:regular r:id="rId16"/>
    </p:embeddedFont>
    <p:embeddedFont>
      <p:font typeface="Public Sans" charset="1" panose="00000000000000000000"/>
      <p:regular r:id="rId17"/>
    </p:embeddedFont>
    <p:embeddedFont>
      <p:font typeface="Open Sans" charset="1" panose="020B0606030504020204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05368"/>
            <a:ext cx="18288000" cy="13097736"/>
          </a:xfrm>
          <a:custGeom>
            <a:avLst/>
            <a:gdLst/>
            <a:ahLst/>
            <a:cxnLst/>
            <a:rect r="r" b="b" t="t" l="l"/>
            <a:pathLst>
              <a:path h="13097736" w="18288000">
                <a:moveTo>
                  <a:pt x="0" y="0"/>
                </a:moveTo>
                <a:lnTo>
                  <a:pt x="18288000" y="0"/>
                </a:lnTo>
                <a:lnTo>
                  <a:pt x="18288000" y="13097736"/>
                </a:lnTo>
                <a:lnTo>
                  <a:pt x="0" y="13097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813" r="0" b="-198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75936" y="2925801"/>
            <a:ext cx="11936128" cy="375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57"/>
              </a:lnSpc>
            </a:pPr>
            <a:r>
              <a:rPr lang="en-US" sz="15667" spc="78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Presentación proyecto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11" y="1756040"/>
            <a:ext cx="16230605" cy="0"/>
          </a:xfrm>
          <a:prstGeom prst="line">
            <a:avLst/>
          </a:prstGeom>
          <a:ln cap="flat" w="2857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75130" y="3058597"/>
            <a:ext cx="8167302" cy="4573689"/>
          </a:xfrm>
          <a:custGeom>
            <a:avLst/>
            <a:gdLst/>
            <a:ahLst/>
            <a:cxnLst/>
            <a:rect r="r" b="b" t="t" l="l"/>
            <a:pathLst>
              <a:path h="4573689" w="8167302">
                <a:moveTo>
                  <a:pt x="0" y="0"/>
                </a:moveTo>
                <a:lnTo>
                  <a:pt x="8167302" y="0"/>
                </a:lnTo>
                <a:lnTo>
                  <a:pt x="8167302" y="4573689"/>
                </a:lnTo>
                <a:lnTo>
                  <a:pt x="0" y="4573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11" y="942975"/>
            <a:ext cx="729634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90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INTRODUCCIÓN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9465" y="2105132"/>
            <a:ext cx="6614838" cy="783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4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La salud bucal es un aspecto fundamental del bienestar general, pero muchas personas enfrentan dificultades para acceder a información clara y confiable sobre tratamientos dentales. Este proyecto tiene como finalidad desarrollar una plataforma web que centralice y presente de manera sencilla los distintos servicios odontológicos.</a:t>
            </a:r>
          </a:p>
          <a:p>
            <a:pPr algn="l">
              <a:lnSpc>
                <a:spcPts val="5234"/>
              </a:lnSpc>
            </a:pPr>
          </a:p>
          <a:p>
            <a:pPr algn="l">
              <a:lnSpc>
                <a:spcPts val="523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95" y="1799270"/>
            <a:ext cx="16230605" cy="0"/>
          </a:xfrm>
          <a:prstGeom prst="line">
            <a:avLst/>
          </a:prstGeom>
          <a:ln cap="flat" w="2857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43232" y="2497931"/>
            <a:ext cx="6782983" cy="6596451"/>
          </a:xfrm>
          <a:custGeom>
            <a:avLst/>
            <a:gdLst/>
            <a:ahLst/>
            <a:cxnLst/>
            <a:rect r="r" b="b" t="t" l="l"/>
            <a:pathLst>
              <a:path h="6596451" w="6782983">
                <a:moveTo>
                  <a:pt x="0" y="0"/>
                </a:moveTo>
                <a:lnTo>
                  <a:pt x="6782982" y="0"/>
                </a:lnTo>
                <a:lnTo>
                  <a:pt x="6782982" y="6596451"/>
                </a:lnTo>
                <a:lnTo>
                  <a:pt x="0" y="6596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52500"/>
            <a:ext cx="16230600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 spc="83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PROBLEMATICA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42531" y="2412206"/>
            <a:ext cx="7877184" cy="678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Muchas personas enfrentan dificultades para acceder a información clara y confiable sobre los tratamientos dentales que necesitan. Esto se debe a que la información suele estar dispersa, es técnica o requiere acudir presencialmente a las clínicas, lo que genera desinformación, retrasos en la atención y decisiones poco informadas sobre la salud bucal. 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Esta situación evidencia la necesidad de una solución digital que centralice, explique y facilite la comprensión de los servicios odontológicos disponibles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760761"/>
            <a:ext cx="16230589" cy="0"/>
          </a:xfrm>
          <a:prstGeom prst="line">
            <a:avLst/>
          </a:prstGeom>
          <a:ln cap="flat" w="2857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295900"/>
            <a:ext cx="6863775" cy="4530091"/>
          </a:xfrm>
          <a:custGeom>
            <a:avLst/>
            <a:gdLst/>
            <a:ahLst/>
            <a:cxnLst/>
            <a:rect r="r" b="b" t="t" l="l"/>
            <a:pathLst>
              <a:path h="4530091" w="6863775">
                <a:moveTo>
                  <a:pt x="0" y="0"/>
                </a:moveTo>
                <a:lnTo>
                  <a:pt x="6863775" y="0"/>
                </a:lnTo>
                <a:lnTo>
                  <a:pt x="6863775" y="4530091"/>
                </a:lnTo>
                <a:lnTo>
                  <a:pt x="0" y="4530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52500"/>
            <a:ext cx="16230600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 spc="83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SOLUCION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60587" y="2273339"/>
            <a:ext cx="9377406" cy="2305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</a:pPr>
            <a:r>
              <a:rPr lang="en-US" sz="259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Desarrollar una plataforma web que centralice y presente de manera clara los tratamientos dentales, sus etapas y costos, facilitando a los pacientes el acceso a información confiable y ayudándolos a tomar decisiones informadas sobre su salud bucal.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34786" y="5574587"/>
            <a:ext cx="9377406" cy="184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</a:pPr>
            <a:r>
              <a:rPr lang="en-US" sz="259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Esta página contara con la integración de tecnologías de vanguardia que ayudaran a los usuarios: N8N para un sistema de notificaciones y un chatbot el cual responda preguntas que los usuarios tendrán dentro de la página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95" y="1799270"/>
            <a:ext cx="16230605" cy="0"/>
          </a:xfrm>
          <a:prstGeom prst="line">
            <a:avLst/>
          </a:prstGeom>
          <a:ln cap="flat" w="2857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38939" y="2270742"/>
            <a:ext cx="4156026" cy="2706612"/>
          </a:xfrm>
          <a:custGeom>
            <a:avLst/>
            <a:gdLst/>
            <a:ahLst/>
            <a:cxnLst/>
            <a:rect r="r" b="b" t="t" l="l"/>
            <a:pathLst>
              <a:path h="2706612" w="4156026">
                <a:moveTo>
                  <a:pt x="0" y="0"/>
                </a:moveTo>
                <a:lnTo>
                  <a:pt x="4156026" y="0"/>
                </a:lnTo>
                <a:lnTo>
                  <a:pt x="4156026" y="2706612"/>
                </a:lnTo>
                <a:lnTo>
                  <a:pt x="0" y="2706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13648" y="5804790"/>
            <a:ext cx="4111409" cy="2677555"/>
          </a:xfrm>
          <a:custGeom>
            <a:avLst/>
            <a:gdLst/>
            <a:ahLst/>
            <a:cxnLst/>
            <a:rect r="r" b="b" t="t" l="l"/>
            <a:pathLst>
              <a:path h="2677555" w="4111409">
                <a:moveTo>
                  <a:pt x="0" y="0"/>
                </a:moveTo>
                <a:lnTo>
                  <a:pt x="4111409" y="0"/>
                </a:lnTo>
                <a:lnTo>
                  <a:pt x="4111409" y="2677556"/>
                </a:lnTo>
                <a:lnTo>
                  <a:pt x="0" y="2677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57465" y="2190700"/>
            <a:ext cx="4401835" cy="2866695"/>
          </a:xfrm>
          <a:custGeom>
            <a:avLst/>
            <a:gdLst/>
            <a:ahLst/>
            <a:cxnLst/>
            <a:rect r="r" b="b" t="t" l="l"/>
            <a:pathLst>
              <a:path h="2866695" w="4401835">
                <a:moveTo>
                  <a:pt x="0" y="0"/>
                </a:moveTo>
                <a:lnTo>
                  <a:pt x="4401835" y="0"/>
                </a:lnTo>
                <a:lnTo>
                  <a:pt x="4401835" y="2866695"/>
                </a:lnTo>
                <a:lnTo>
                  <a:pt x="0" y="28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6871" y="952500"/>
            <a:ext cx="14803498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 spc="83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EQUIPO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30" y="5181220"/>
            <a:ext cx="497070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Martin Muñoz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Programador Back 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4690" y="4910679"/>
            <a:ext cx="476452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José Squella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Programador Front 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30069" y="8415671"/>
            <a:ext cx="567856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Matías Salinas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Programador Base de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760761"/>
            <a:ext cx="16230600" cy="0"/>
          </a:xfrm>
          <a:prstGeom prst="line">
            <a:avLst/>
          </a:prstGeom>
          <a:ln cap="flat" w="2857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327035" y="2803176"/>
            <a:ext cx="2131680" cy="2206137"/>
          </a:xfrm>
          <a:custGeom>
            <a:avLst/>
            <a:gdLst/>
            <a:ahLst/>
            <a:cxnLst/>
            <a:rect r="r" b="b" t="t" l="l"/>
            <a:pathLst>
              <a:path h="2206137" w="2131680">
                <a:moveTo>
                  <a:pt x="0" y="0"/>
                </a:moveTo>
                <a:lnTo>
                  <a:pt x="2131680" y="0"/>
                </a:lnTo>
                <a:lnTo>
                  <a:pt x="2131680" y="2206136"/>
                </a:lnTo>
                <a:lnTo>
                  <a:pt x="0" y="2206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46870" y="2951912"/>
            <a:ext cx="2117622" cy="2191588"/>
          </a:xfrm>
          <a:custGeom>
            <a:avLst/>
            <a:gdLst/>
            <a:ahLst/>
            <a:cxnLst/>
            <a:rect r="r" b="b" t="t" l="l"/>
            <a:pathLst>
              <a:path h="2191588" w="2117622">
                <a:moveTo>
                  <a:pt x="0" y="0"/>
                </a:moveTo>
                <a:lnTo>
                  <a:pt x="2117621" y="0"/>
                </a:lnTo>
                <a:lnTo>
                  <a:pt x="2117621" y="2191588"/>
                </a:lnTo>
                <a:lnTo>
                  <a:pt x="0" y="2191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55341" y="2946725"/>
            <a:ext cx="2122633" cy="2196775"/>
          </a:xfrm>
          <a:custGeom>
            <a:avLst/>
            <a:gdLst/>
            <a:ahLst/>
            <a:cxnLst/>
            <a:rect r="r" b="b" t="t" l="l"/>
            <a:pathLst>
              <a:path h="2196775" w="2122633">
                <a:moveTo>
                  <a:pt x="0" y="0"/>
                </a:moveTo>
                <a:lnTo>
                  <a:pt x="2122634" y="0"/>
                </a:lnTo>
                <a:lnTo>
                  <a:pt x="2122634" y="2196775"/>
                </a:lnTo>
                <a:lnTo>
                  <a:pt x="0" y="219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46870" y="6252835"/>
            <a:ext cx="2122633" cy="2196775"/>
          </a:xfrm>
          <a:custGeom>
            <a:avLst/>
            <a:gdLst/>
            <a:ahLst/>
            <a:cxnLst/>
            <a:rect r="r" b="b" t="t" l="l"/>
            <a:pathLst>
              <a:path h="2196775" w="2122633">
                <a:moveTo>
                  <a:pt x="0" y="0"/>
                </a:moveTo>
                <a:lnTo>
                  <a:pt x="2122633" y="0"/>
                </a:lnTo>
                <a:lnTo>
                  <a:pt x="2122633" y="2196774"/>
                </a:lnTo>
                <a:lnTo>
                  <a:pt x="0" y="219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ROLES DE LOS USUARIOS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20805" y="5095037"/>
            <a:ext cx="27697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B2C30"/>
                </a:solidFill>
                <a:latin typeface="Open Sans"/>
                <a:ea typeface="Open Sans"/>
                <a:cs typeface="Open Sans"/>
                <a:sym typeface="Open Sans"/>
              </a:rPr>
              <a:t>Recepcionista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64127" y="5076825"/>
            <a:ext cx="43050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B2C30"/>
                </a:solidFill>
                <a:latin typeface="Open Sans"/>
                <a:ea typeface="Open Sans"/>
                <a:cs typeface="Open Sans"/>
                <a:sym typeface="Open Sans"/>
              </a:rPr>
              <a:t>Doctor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0344" y="5095037"/>
            <a:ext cx="43050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B2C30"/>
                </a:solidFill>
                <a:latin typeface="Open Sans"/>
                <a:ea typeface="Open Sans"/>
                <a:cs typeface="Open Sans"/>
                <a:sym typeface="Open Sans"/>
              </a:rPr>
              <a:t>Cliente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20805" y="8382934"/>
            <a:ext cx="295223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B2C30"/>
                </a:solidFill>
                <a:latin typeface="Open Sans"/>
                <a:ea typeface="Open Sans"/>
                <a:cs typeface="Open Sans"/>
                <a:sym typeface="Open Sans"/>
              </a:rPr>
              <a:t>Administrador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760761"/>
            <a:ext cx="16230600" cy="0"/>
          </a:xfrm>
          <a:prstGeom prst="line">
            <a:avLst/>
          </a:prstGeom>
          <a:ln cap="flat" w="2857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79630" y="2777962"/>
            <a:ext cx="2865202" cy="2897803"/>
          </a:xfrm>
          <a:custGeom>
            <a:avLst/>
            <a:gdLst/>
            <a:ahLst/>
            <a:cxnLst/>
            <a:rect r="r" b="b" t="t" l="l"/>
            <a:pathLst>
              <a:path h="2897803" w="2865202">
                <a:moveTo>
                  <a:pt x="0" y="0"/>
                </a:moveTo>
                <a:lnTo>
                  <a:pt x="2865202" y="0"/>
                </a:lnTo>
                <a:lnTo>
                  <a:pt x="2865202" y="2897802"/>
                </a:lnTo>
                <a:lnTo>
                  <a:pt x="0" y="2897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74484" y="2461387"/>
            <a:ext cx="3585019" cy="4114800"/>
          </a:xfrm>
          <a:custGeom>
            <a:avLst/>
            <a:gdLst/>
            <a:ahLst/>
            <a:cxnLst/>
            <a:rect r="r" b="b" t="t" l="l"/>
            <a:pathLst>
              <a:path h="4114800" w="3585019">
                <a:moveTo>
                  <a:pt x="0" y="0"/>
                </a:moveTo>
                <a:lnTo>
                  <a:pt x="3585019" y="0"/>
                </a:lnTo>
                <a:lnTo>
                  <a:pt x="35850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20996" y="2995326"/>
            <a:ext cx="3046923" cy="3046923"/>
          </a:xfrm>
          <a:custGeom>
            <a:avLst/>
            <a:gdLst/>
            <a:ahLst/>
            <a:cxnLst/>
            <a:rect r="r" b="b" t="t" l="l"/>
            <a:pathLst>
              <a:path h="3046923" w="3046923">
                <a:moveTo>
                  <a:pt x="0" y="0"/>
                </a:moveTo>
                <a:lnTo>
                  <a:pt x="3046923" y="0"/>
                </a:lnTo>
                <a:lnTo>
                  <a:pt x="3046923" y="3046923"/>
                </a:lnTo>
                <a:lnTo>
                  <a:pt x="0" y="30469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69253" y="6675889"/>
            <a:ext cx="3616917" cy="3029168"/>
          </a:xfrm>
          <a:custGeom>
            <a:avLst/>
            <a:gdLst/>
            <a:ahLst/>
            <a:cxnLst/>
            <a:rect r="r" b="b" t="t" l="l"/>
            <a:pathLst>
              <a:path h="3029168" w="3616917">
                <a:moveTo>
                  <a:pt x="0" y="0"/>
                </a:moveTo>
                <a:lnTo>
                  <a:pt x="3616917" y="0"/>
                </a:lnTo>
                <a:lnTo>
                  <a:pt x="3616917" y="3029168"/>
                </a:lnTo>
                <a:lnTo>
                  <a:pt x="0" y="30291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78290" y="6675889"/>
            <a:ext cx="2548721" cy="3216051"/>
          </a:xfrm>
          <a:custGeom>
            <a:avLst/>
            <a:gdLst/>
            <a:ahLst/>
            <a:cxnLst/>
            <a:rect r="r" b="b" t="t" l="l"/>
            <a:pathLst>
              <a:path h="3216051" w="2548721">
                <a:moveTo>
                  <a:pt x="0" y="0"/>
                </a:moveTo>
                <a:lnTo>
                  <a:pt x="2548721" y="0"/>
                </a:lnTo>
                <a:lnTo>
                  <a:pt x="2548721" y="3216052"/>
                </a:lnTo>
                <a:lnTo>
                  <a:pt x="0" y="32160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TECNOLOGIAS USADAS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95" y="1799270"/>
            <a:ext cx="16230605" cy="0"/>
          </a:xfrm>
          <a:prstGeom prst="line">
            <a:avLst/>
          </a:prstGeom>
          <a:ln cap="flat" w="2857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664181" y="5849828"/>
            <a:ext cx="3919347" cy="4114800"/>
          </a:xfrm>
          <a:custGeom>
            <a:avLst/>
            <a:gdLst/>
            <a:ahLst/>
            <a:cxnLst/>
            <a:rect r="r" b="b" t="t" l="l"/>
            <a:pathLst>
              <a:path h="4114800" w="3919347">
                <a:moveTo>
                  <a:pt x="0" y="0"/>
                </a:moveTo>
                <a:lnTo>
                  <a:pt x="3919347" y="0"/>
                </a:lnTo>
                <a:lnTo>
                  <a:pt x="39193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54738" y="5849828"/>
            <a:ext cx="3898773" cy="4114800"/>
          </a:xfrm>
          <a:custGeom>
            <a:avLst/>
            <a:gdLst/>
            <a:ahLst/>
            <a:cxnLst/>
            <a:rect r="r" b="b" t="t" l="l"/>
            <a:pathLst>
              <a:path h="4114800" w="3898773">
                <a:moveTo>
                  <a:pt x="0" y="0"/>
                </a:moveTo>
                <a:lnTo>
                  <a:pt x="3898773" y="0"/>
                </a:lnTo>
                <a:lnTo>
                  <a:pt x="38987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52500"/>
            <a:ext cx="14803498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 spc="83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ALCANCE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2553" y="2569958"/>
            <a:ext cx="15536012" cy="308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8"/>
              </a:lnSpc>
            </a:pPr>
            <a:r>
              <a:rPr lang="en-US" sz="25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p</a:t>
            </a:r>
            <a:r>
              <a:rPr lang="en-US" sz="25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royecto abarca el diseño, desarrollo e implementación de una plataforma web destinada a usuarios que buscan información sobre tratamientos dentales. La aplicación permitirá consultar los distintos procedimientos odontológicos, conocer sus etapas y costos, y brindará orientación básica sobre cada tratamiento.</a:t>
            </a:r>
          </a:p>
          <a:p>
            <a:pPr algn="ctr">
              <a:lnSpc>
                <a:spcPts val="3508"/>
              </a:lnSpc>
            </a:pPr>
          </a:p>
          <a:p>
            <a:pPr algn="ctr">
              <a:lnSpc>
                <a:spcPts val="3508"/>
              </a:lnSpc>
            </a:pPr>
            <a:r>
              <a:rPr lang="en-US" sz="25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También la aplicación brinda ayuda a los trabajadores de la clínica dental para tener una mejor seguimiento del paciente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8407" y="3710066"/>
            <a:ext cx="12313952" cy="211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25"/>
              </a:lnSpc>
            </a:pPr>
            <a:r>
              <a:rPr lang="en-US" sz="1237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DAGkLaKB5kw</dc:identifier>
  <dcterms:modified xsi:type="dcterms:W3CDTF">2011-08-01T06:04:30Z</dcterms:modified>
  <cp:revision>1</cp:revision>
  <dc:title>capstone</dc:title>
</cp:coreProperties>
</file>